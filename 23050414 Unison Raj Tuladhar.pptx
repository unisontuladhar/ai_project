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Nunito" panose="020B0604020202020204" charset="0"/>
      <p:regular r:id="rId19"/>
    </p:embeddedFont>
    <p:embeddedFont>
      <p:font typeface="Nunito Bold" panose="020B0604020202020204" charset="0"/>
      <p:regular r:id="rId20"/>
    </p:embeddedFont>
    <p:embeddedFont>
      <p:font typeface="Nunito Heavy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01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2.svg"/><Relationship Id="rId18" Type="http://schemas.openxmlformats.org/officeDocument/2006/relationships/image" Target="../media/image5.png"/><Relationship Id="rId3" Type="http://schemas.openxmlformats.org/officeDocument/2006/relationships/image" Target="../media/image22.svg"/><Relationship Id="rId7" Type="http://schemas.openxmlformats.org/officeDocument/2006/relationships/image" Target="../media/image16.svg"/><Relationship Id="rId12" Type="http://schemas.openxmlformats.org/officeDocument/2006/relationships/image" Target="../media/image11.png"/><Relationship Id="rId17" Type="http://schemas.openxmlformats.org/officeDocument/2006/relationships/image" Target="../media/image20.svg"/><Relationship Id="rId2" Type="http://schemas.openxmlformats.org/officeDocument/2006/relationships/image" Target="../media/image2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0.svg"/><Relationship Id="rId5" Type="http://schemas.openxmlformats.org/officeDocument/2006/relationships/image" Target="../media/image8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1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svg"/><Relationship Id="rId7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2.sv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svg"/><Relationship Id="rId7" Type="http://schemas.openxmlformats.org/officeDocument/2006/relationships/image" Target="../media/image4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4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32171" flipV="1">
            <a:off x="10823544" y="-6277760"/>
            <a:ext cx="11159046" cy="12081644"/>
          </a:xfrm>
          <a:custGeom>
            <a:avLst/>
            <a:gdLst/>
            <a:ahLst/>
            <a:cxnLst/>
            <a:rect l="l" t="t" r="r" b="b"/>
            <a:pathLst>
              <a:path w="11159046" h="12081644">
                <a:moveTo>
                  <a:pt x="0" y="12081644"/>
                </a:moveTo>
                <a:lnTo>
                  <a:pt x="11159046" y="12081644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477909">
            <a:off x="-5253835" y="4177984"/>
            <a:ext cx="12537058" cy="13573586"/>
          </a:xfrm>
          <a:custGeom>
            <a:avLst/>
            <a:gdLst/>
            <a:ahLst/>
            <a:cxnLst/>
            <a:rect l="l" t="t" r="r" b="b"/>
            <a:pathLst>
              <a:path w="12537058" h="13573586">
                <a:moveTo>
                  <a:pt x="0" y="0"/>
                </a:moveTo>
                <a:lnTo>
                  <a:pt x="12537058" y="0"/>
                </a:lnTo>
                <a:lnTo>
                  <a:pt x="12537058" y="13573587"/>
                </a:lnTo>
                <a:lnTo>
                  <a:pt x="0" y="13573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67238" y="2462302"/>
            <a:ext cx="10922299" cy="339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3"/>
              </a:lnSpc>
            </a:pPr>
            <a:r>
              <a:rPr lang="en-US" sz="8048" b="1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DIABETES PREDICTION USING  MACHINE LEARNING </a:t>
            </a:r>
          </a:p>
        </p:txBody>
      </p:sp>
      <p:sp>
        <p:nvSpPr>
          <p:cNvPr id="5" name="Freeform 5"/>
          <p:cNvSpPr/>
          <p:nvPr/>
        </p:nvSpPr>
        <p:spPr>
          <a:xfrm rot="-1200000">
            <a:off x="684629" y="5561221"/>
            <a:ext cx="3652098" cy="4228745"/>
          </a:xfrm>
          <a:custGeom>
            <a:avLst/>
            <a:gdLst/>
            <a:ahLst/>
            <a:cxnLst/>
            <a:rect l="l" t="t" r="r" b="b"/>
            <a:pathLst>
              <a:path w="3652098" h="4228745">
                <a:moveTo>
                  <a:pt x="0" y="0"/>
                </a:moveTo>
                <a:lnTo>
                  <a:pt x="3652098" y="0"/>
                </a:lnTo>
                <a:lnTo>
                  <a:pt x="3652098" y="4228746"/>
                </a:lnTo>
                <a:lnTo>
                  <a:pt x="0" y="4228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320000">
            <a:off x="489934" y="3704289"/>
            <a:ext cx="2008993" cy="1848274"/>
          </a:xfrm>
          <a:custGeom>
            <a:avLst/>
            <a:gdLst/>
            <a:ahLst/>
            <a:cxnLst/>
            <a:rect l="l" t="t" r="r" b="b"/>
            <a:pathLst>
              <a:path w="2008993" h="1848274">
                <a:moveTo>
                  <a:pt x="0" y="0"/>
                </a:moveTo>
                <a:lnTo>
                  <a:pt x="2008993" y="0"/>
                </a:lnTo>
                <a:lnTo>
                  <a:pt x="2008993" y="1848273"/>
                </a:lnTo>
                <a:lnTo>
                  <a:pt x="0" y="1848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9782">
            <a:off x="16311134" y="1106579"/>
            <a:ext cx="1247524" cy="2318035"/>
          </a:xfrm>
          <a:custGeom>
            <a:avLst/>
            <a:gdLst/>
            <a:ahLst/>
            <a:cxnLst/>
            <a:rect l="l" t="t" r="r" b="b"/>
            <a:pathLst>
              <a:path w="1247524" h="2318035">
                <a:moveTo>
                  <a:pt x="0" y="0"/>
                </a:moveTo>
                <a:lnTo>
                  <a:pt x="1247525" y="0"/>
                </a:lnTo>
                <a:lnTo>
                  <a:pt x="1247525" y="2318034"/>
                </a:lnTo>
                <a:lnTo>
                  <a:pt x="0" y="23180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257292">
            <a:off x="15801246" y="3579589"/>
            <a:ext cx="1407347" cy="2097672"/>
          </a:xfrm>
          <a:custGeom>
            <a:avLst/>
            <a:gdLst/>
            <a:ahLst/>
            <a:cxnLst/>
            <a:rect l="l" t="t" r="r" b="b"/>
            <a:pathLst>
              <a:path w="1407347" h="2097672">
                <a:moveTo>
                  <a:pt x="0" y="0"/>
                </a:moveTo>
                <a:lnTo>
                  <a:pt x="1407348" y="0"/>
                </a:lnTo>
                <a:lnTo>
                  <a:pt x="1407348" y="2097673"/>
                </a:lnTo>
                <a:lnTo>
                  <a:pt x="0" y="20976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959453" y="498207"/>
            <a:ext cx="1091934" cy="2461327"/>
          </a:xfrm>
          <a:custGeom>
            <a:avLst/>
            <a:gdLst/>
            <a:ahLst/>
            <a:cxnLst/>
            <a:rect l="l" t="t" r="r" b="b"/>
            <a:pathLst>
              <a:path w="1091934" h="2461327">
                <a:moveTo>
                  <a:pt x="0" y="0"/>
                </a:moveTo>
                <a:lnTo>
                  <a:pt x="1091934" y="0"/>
                </a:lnTo>
                <a:lnTo>
                  <a:pt x="1091934" y="2461326"/>
                </a:lnTo>
                <a:lnTo>
                  <a:pt x="0" y="24613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800000">
            <a:off x="5327875" y="7745979"/>
            <a:ext cx="1245036" cy="1956486"/>
          </a:xfrm>
          <a:custGeom>
            <a:avLst/>
            <a:gdLst/>
            <a:ahLst/>
            <a:cxnLst/>
            <a:rect l="l" t="t" r="r" b="b"/>
            <a:pathLst>
              <a:path w="1245036" h="1956486">
                <a:moveTo>
                  <a:pt x="0" y="0"/>
                </a:moveTo>
                <a:lnTo>
                  <a:pt x="1245037" y="0"/>
                </a:lnTo>
                <a:lnTo>
                  <a:pt x="1245037" y="1956485"/>
                </a:lnTo>
                <a:lnTo>
                  <a:pt x="0" y="19564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3300000">
            <a:off x="7311724" y="8510998"/>
            <a:ext cx="466624" cy="1807345"/>
          </a:xfrm>
          <a:custGeom>
            <a:avLst/>
            <a:gdLst/>
            <a:ahLst/>
            <a:cxnLst/>
            <a:rect l="l" t="t" r="r" b="b"/>
            <a:pathLst>
              <a:path w="466624" h="1807345">
                <a:moveTo>
                  <a:pt x="0" y="0"/>
                </a:moveTo>
                <a:lnTo>
                  <a:pt x="466623" y="0"/>
                </a:lnTo>
                <a:lnTo>
                  <a:pt x="466623" y="1807345"/>
                </a:lnTo>
                <a:lnTo>
                  <a:pt x="0" y="180734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6593113">
            <a:off x="11535962" y="-110252"/>
            <a:ext cx="525989" cy="2277903"/>
          </a:xfrm>
          <a:custGeom>
            <a:avLst/>
            <a:gdLst/>
            <a:ahLst/>
            <a:cxnLst/>
            <a:rect l="l" t="t" r="r" b="b"/>
            <a:pathLst>
              <a:path w="525989" h="2277903">
                <a:moveTo>
                  <a:pt x="0" y="0"/>
                </a:moveTo>
                <a:lnTo>
                  <a:pt x="525989" y="0"/>
                </a:lnTo>
                <a:lnTo>
                  <a:pt x="525989" y="2277904"/>
                </a:lnTo>
                <a:lnTo>
                  <a:pt x="0" y="227790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566824" y="6253136"/>
            <a:ext cx="8464265" cy="3005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7" dirty="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Name: Unison Raj Tuladhar (C15)</a:t>
            </a:r>
          </a:p>
          <a:p>
            <a:pPr algn="ctr">
              <a:lnSpc>
                <a:spcPts val="4797"/>
              </a:lnSpc>
            </a:pPr>
            <a:r>
              <a:rPr lang="en-US" sz="3997" dirty="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London Met Id: 23050414</a:t>
            </a:r>
          </a:p>
          <a:p>
            <a:pPr algn="ctr">
              <a:lnSpc>
                <a:spcPts val="4797"/>
              </a:lnSpc>
            </a:pPr>
            <a:r>
              <a:rPr lang="en-US" sz="3997" dirty="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Module: CU6051NI/ Artificial Intelligence(AI)</a:t>
            </a:r>
          </a:p>
          <a:p>
            <a:pPr algn="ctr">
              <a:lnSpc>
                <a:spcPts val="4797"/>
              </a:lnSpc>
            </a:pPr>
            <a:endParaRPr lang="en-US" sz="3997" dirty="0">
              <a:solidFill>
                <a:srgbClr val="5C322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" name="Freeform 14"/>
          <p:cNvSpPr/>
          <p:nvPr/>
        </p:nvSpPr>
        <p:spPr>
          <a:xfrm rot="-9907623">
            <a:off x="14728830" y="601164"/>
            <a:ext cx="1371001" cy="2043497"/>
          </a:xfrm>
          <a:custGeom>
            <a:avLst/>
            <a:gdLst/>
            <a:ahLst/>
            <a:cxnLst/>
            <a:rect l="l" t="t" r="r" b="b"/>
            <a:pathLst>
              <a:path w="1371001" h="2043497">
                <a:moveTo>
                  <a:pt x="0" y="0"/>
                </a:moveTo>
                <a:lnTo>
                  <a:pt x="1371001" y="0"/>
                </a:lnTo>
                <a:lnTo>
                  <a:pt x="1371001" y="2043498"/>
                </a:lnTo>
                <a:lnTo>
                  <a:pt x="0" y="20434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79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60375"/>
            <a:ext cx="9285360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sz="7000" b="1" spc="70">
                <a:solidFill>
                  <a:srgbClr val="FFC9B3"/>
                </a:solidFill>
                <a:latin typeface="Nunito Heavy"/>
                <a:ea typeface="Nunito Heavy"/>
                <a:cs typeface="Nunito Heavy"/>
                <a:sym typeface="Nunito Heavy"/>
              </a:rPr>
              <a:t>AGENDA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29070" y="1803701"/>
            <a:ext cx="9285360" cy="888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Topic Overview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AI Concepts Used 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Research Evidences 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Reason for Selection of the Topic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Proposed Solution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How the Application Works 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Pseudocode 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Flowchart 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Real-world Problems Solved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Achieved Results 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Conclusion</a:t>
            </a:r>
          </a:p>
          <a:p>
            <a:pPr marL="906777" lvl="1" indent="-453388" algn="l">
              <a:lnSpc>
                <a:spcPts val="5879"/>
              </a:lnSpc>
              <a:buFont typeface="Arial"/>
              <a:buChar char="•"/>
            </a:pPr>
            <a:endParaRPr lang="en-US" sz="4199">
              <a:solidFill>
                <a:srgbClr val="FFC9B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" name="Freeform 4"/>
          <p:cNvSpPr/>
          <p:nvPr/>
        </p:nvSpPr>
        <p:spPr>
          <a:xfrm rot="-4816066">
            <a:off x="7720133" y="-2011109"/>
            <a:ext cx="16888561" cy="14309217"/>
          </a:xfrm>
          <a:custGeom>
            <a:avLst/>
            <a:gdLst/>
            <a:ahLst/>
            <a:cxnLst/>
            <a:rect l="l" t="t" r="r" b="b"/>
            <a:pathLst>
              <a:path w="16888561" h="14309217">
                <a:moveTo>
                  <a:pt x="0" y="0"/>
                </a:moveTo>
                <a:lnTo>
                  <a:pt x="16888561" y="0"/>
                </a:lnTo>
                <a:lnTo>
                  <a:pt x="16888561" y="14309218"/>
                </a:lnTo>
                <a:lnTo>
                  <a:pt x="0" y="14309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24296">
            <a:off x="11006456" y="3811847"/>
            <a:ext cx="2143032" cy="1971589"/>
          </a:xfrm>
          <a:custGeom>
            <a:avLst/>
            <a:gdLst/>
            <a:ahLst/>
            <a:cxnLst/>
            <a:rect l="l" t="t" r="r" b="b"/>
            <a:pathLst>
              <a:path w="2143032" h="1971589">
                <a:moveTo>
                  <a:pt x="0" y="0"/>
                </a:moveTo>
                <a:lnTo>
                  <a:pt x="2143032" y="0"/>
                </a:lnTo>
                <a:lnTo>
                  <a:pt x="2143032" y="1971589"/>
                </a:lnTo>
                <a:lnTo>
                  <a:pt x="0" y="1971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410219">
            <a:off x="15723655" y="3406228"/>
            <a:ext cx="1460273" cy="2294715"/>
          </a:xfrm>
          <a:custGeom>
            <a:avLst/>
            <a:gdLst/>
            <a:ahLst/>
            <a:cxnLst/>
            <a:rect l="l" t="t" r="r" b="b"/>
            <a:pathLst>
              <a:path w="1460273" h="2294715">
                <a:moveTo>
                  <a:pt x="0" y="0"/>
                </a:moveTo>
                <a:lnTo>
                  <a:pt x="1460273" y="0"/>
                </a:lnTo>
                <a:lnTo>
                  <a:pt x="1460273" y="2294715"/>
                </a:lnTo>
                <a:lnTo>
                  <a:pt x="0" y="22947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881308">
            <a:off x="16205968" y="6115462"/>
            <a:ext cx="495646" cy="1919755"/>
          </a:xfrm>
          <a:custGeom>
            <a:avLst/>
            <a:gdLst/>
            <a:ahLst/>
            <a:cxnLst/>
            <a:rect l="l" t="t" r="r" b="b"/>
            <a:pathLst>
              <a:path w="495646" h="1919755">
                <a:moveTo>
                  <a:pt x="0" y="0"/>
                </a:moveTo>
                <a:lnTo>
                  <a:pt x="495646" y="0"/>
                </a:lnTo>
                <a:lnTo>
                  <a:pt x="495646" y="1919755"/>
                </a:lnTo>
                <a:lnTo>
                  <a:pt x="0" y="19197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69782">
            <a:off x="14045811" y="1708376"/>
            <a:ext cx="1362403" cy="2531492"/>
          </a:xfrm>
          <a:custGeom>
            <a:avLst/>
            <a:gdLst/>
            <a:ahLst/>
            <a:cxnLst/>
            <a:rect l="l" t="t" r="r" b="b"/>
            <a:pathLst>
              <a:path w="1362403" h="2531492">
                <a:moveTo>
                  <a:pt x="0" y="0"/>
                </a:moveTo>
                <a:lnTo>
                  <a:pt x="1362404" y="0"/>
                </a:lnTo>
                <a:lnTo>
                  <a:pt x="1362404" y="2531493"/>
                </a:lnTo>
                <a:lnTo>
                  <a:pt x="0" y="25314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3932114">
            <a:off x="15718479" y="1159083"/>
            <a:ext cx="1470624" cy="2191987"/>
          </a:xfrm>
          <a:custGeom>
            <a:avLst/>
            <a:gdLst/>
            <a:ahLst/>
            <a:cxnLst/>
            <a:rect l="l" t="t" r="r" b="b"/>
            <a:pathLst>
              <a:path w="1470624" h="2191987">
                <a:moveTo>
                  <a:pt x="0" y="0"/>
                </a:moveTo>
                <a:lnTo>
                  <a:pt x="1470624" y="0"/>
                </a:lnTo>
                <a:lnTo>
                  <a:pt x="1470624" y="2191987"/>
                </a:lnTo>
                <a:lnTo>
                  <a:pt x="0" y="21919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843487" y="819451"/>
            <a:ext cx="1180961" cy="2662002"/>
          </a:xfrm>
          <a:custGeom>
            <a:avLst/>
            <a:gdLst/>
            <a:ahLst/>
            <a:cxnLst/>
            <a:rect l="l" t="t" r="r" b="b"/>
            <a:pathLst>
              <a:path w="1180961" h="2662002">
                <a:moveTo>
                  <a:pt x="0" y="0"/>
                </a:moveTo>
                <a:lnTo>
                  <a:pt x="1180960" y="0"/>
                </a:lnTo>
                <a:lnTo>
                  <a:pt x="1180960" y="2662001"/>
                </a:lnTo>
                <a:lnTo>
                  <a:pt x="0" y="26620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3492097">
            <a:off x="10273047" y="1011500"/>
            <a:ext cx="525989" cy="2277903"/>
          </a:xfrm>
          <a:custGeom>
            <a:avLst/>
            <a:gdLst/>
            <a:ahLst/>
            <a:cxnLst/>
            <a:rect l="l" t="t" r="r" b="b"/>
            <a:pathLst>
              <a:path w="525989" h="2277903">
                <a:moveTo>
                  <a:pt x="0" y="0"/>
                </a:moveTo>
                <a:lnTo>
                  <a:pt x="525988" y="0"/>
                </a:lnTo>
                <a:lnTo>
                  <a:pt x="525988" y="2277903"/>
                </a:lnTo>
                <a:lnTo>
                  <a:pt x="0" y="22779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7467239">
            <a:off x="13018389" y="1338935"/>
            <a:ext cx="1470624" cy="2191987"/>
          </a:xfrm>
          <a:custGeom>
            <a:avLst/>
            <a:gdLst/>
            <a:ahLst/>
            <a:cxnLst/>
            <a:rect l="l" t="t" r="r" b="b"/>
            <a:pathLst>
              <a:path w="1470624" h="2191987">
                <a:moveTo>
                  <a:pt x="0" y="0"/>
                </a:moveTo>
                <a:lnTo>
                  <a:pt x="1470624" y="0"/>
                </a:lnTo>
                <a:lnTo>
                  <a:pt x="1470624" y="2191987"/>
                </a:lnTo>
                <a:lnTo>
                  <a:pt x="0" y="21919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6365">
            <a:off x="12141907" y="5261694"/>
            <a:ext cx="3497479" cy="4049712"/>
          </a:xfrm>
          <a:custGeom>
            <a:avLst/>
            <a:gdLst/>
            <a:ahLst/>
            <a:cxnLst/>
            <a:rect l="l" t="t" r="r" b="b"/>
            <a:pathLst>
              <a:path w="3497479" h="4049712">
                <a:moveTo>
                  <a:pt x="0" y="0"/>
                </a:moveTo>
                <a:lnTo>
                  <a:pt x="3497479" y="0"/>
                </a:lnTo>
                <a:lnTo>
                  <a:pt x="3497479" y="4049713"/>
                </a:lnTo>
                <a:lnTo>
                  <a:pt x="0" y="404971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32171" flipV="1">
            <a:off x="10823544" y="-6277760"/>
            <a:ext cx="11159046" cy="12081644"/>
          </a:xfrm>
          <a:custGeom>
            <a:avLst/>
            <a:gdLst/>
            <a:ahLst/>
            <a:cxnLst/>
            <a:rect l="l" t="t" r="r" b="b"/>
            <a:pathLst>
              <a:path w="11159046" h="12081644">
                <a:moveTo>
                  <a:pt x="0" y="12081644"/>
                </a:moveTo>
                <a:lnTo>
                  <a:pt x="11159046" y="12081644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477909">
            <a:off x="-5253835" y="4177984"/>
            <a:ext cx="12537058" cy="13573586"/>
          </a:xfrm>
          <a:custGeom>
            <a:avLst/>
            <a:gdLst/>
            <a:ahLst/>
            <a:cxnLst/>
            <a:rect l="l" t="t" r="r" b="b"/>
            <a:pathLst>
              <a:path w="12537058" h="13573586">
                <a:moveTo>
                  <a:pt x="0" y="0"/>
                </a:moveTo>
                <a:lnTo>
                  <a:pt x="12537058" y="0"/>
                </a:lnTo>
                <a:lnTo>
                  <a:pt x="12537058" y="13573587"/>
                </a:lnTo>
                <a:lnTo>
                  <a:pt x="0" y="13573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069635" y="2702731"/>
            <a:ext cx="4961738" cy="9410192"/>
          </a:xfrm>
          <a:custGeom>
            <a:avLst/>
            <a:gdLst/>
            <a:ahLst/>
            <a:cxnLst/>
            <a:rect l="l" t="t" r="r" b="b"/>
            <a:pathLst>
              <a:path w="4961738" h="9410192">
                <a:moveTo>
                  <a:pt x="0" y="0"/>
                </a:moveTo>
                <a:lnTo>
                  <a:pt x="4961737" y="0"/>
                </a:lnTo>
                <a:lnTo>
                  <a:pt x="4961737" y="9410192"/>
                </a:lnTo>
                <a:lnTo>
                  <a:pt x="0" y="9410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68648" y="2860675"/>
            <a:ext cx="3453311" cy="9690414"/>
          </a:xfrm>
          <a:custGeom>
            <a:avLst/>
            <a:gdLst/>
            <a:ahLst/>
            <a:cxnLst/>
            <a:rect l="l" t="t" r="r" b="b"/>
            <a:pathLst>
              <a:path w="3453311" h="9690414">
                <a:moveTo>
                  <a:pt x="0" y="0"/>
                </a:moveTo>
                <a:lnTo>
                  <a:pt x="3453312" y="0"/>
                </a:lnTo>
                <a:lnTo>
                  <a:pt x="3453312" y="9690414"/>
                </a:lnTo>
                <a:lnTo>
                  <a:pt x="0" y="9690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301030" y="3365181"/>
            <a:ext cx="9685940" cy="4716893"/>
            <a:chOff x="0" y="0"/>
            <a:chExt cx="2551029" cy="12423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1029" cy="1242309"/>
            </a:xfrm>
            <a:custGeom>
              <a:avLst/>
              <a:gdLst/>
              <a:ahLst/>
              <a:cxnLst/>
              <a:rect l="l" t="t" r="r" b="b"/>
              <a:pathLst>
                <a:path w="2551029" h="1242309">
                  <a:moveTo>
                    <a:pt x="9592" y="0"/>
                  </a:moveTo>
                  <a:lnTo>
                    <a:pt x="2541438" y="0"/>
                  </a:lnTo>
                  <a:cubicBezTo>
                    <a:pt x="2546735" y="0"/>
                    <a:pt x="2551029" y="4294"/>
                    <a:pt x="2551029" y="9592"/>
                  </a:cubicBezTo>
                  <a:lnTo>
                    <a:pt x="2551029" y="1232718"/>
                  </a:lnTo>
                  <a:cubicBezTo>
                    <a:pt x="2551029" y="1238015"/>
                    <a:pt x="2546735" y="1242309"/>
                    <a:pt x="2541438" y="1242309"/>
                  </a:cubicBezTo>
                  <a:lnTo>
                    <a:pt x="9592" y="1242309"/>
                  </a:lnTo>
                  <a:cubicBezTo>
                    <a:pt x="4294" y="1242309"/>
                    <a:pt x="0" y="1238015"/>
                    <a:pt x="0" y="1232718"/>
                  </a:cubicBezTo>
                  <a:lnTo>
                    <a:pt x="0" y="9592"/>
                  </a:lnTo>
                  <a:cubicBezTo>
                    <a:pt x="0" y="4294"/>
                    <a:pt x="4294" y="0"/>
                    <a:pt x="9592" y="0"/>
                  </a:cubicBezTo>
                  <a:close/>
                </a:path>
              </a:pathLst>
            </a:custGeom>
            <a:solidFill>
              <a:srgbClr val="A5DAF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551029" cy="1299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•This project focuses on predicting diabetes using supervised machine learning.</a:t>
              </a:r>
            </a:p>
            <a:p>
              <a:pPr algn="ctr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•Healthcare dataset with medical attributes is being used. </a:t>
              </a:r>
            </a:p>
            <a:p>
              <a:pPr algn="ctr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•The system predicts whether an individual is Diabetic or Non-Diabetic.</a:t>
              </a:r>
            </a:p>
            <a:p>
              <a:pPr algn="ctr">
                <a:lnSpc>
                  <a:spcPts val="4760"/>
                </a:lnSpc>
              </a:pPr>
              <a:endPara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301030" y="2211944"/>
            <a:ext cx="9685940" cy="97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sz="6200" b="1" spc="62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TOPIC OVERVIEW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79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7833" y="1415812"/>
            <a:ext cx="11877554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0"/>
              </a:lnSpc>
            </a:pPr>
            <a:r>
              <a:rPr lang="en-US" sz="7000" b="1" spc="70">
                <a:solidFill>
                  <a:srgbClr val="FFC9B3"/>
                </a:solidFill>
                <a:latin typeface="Nunito Heavy"/>
                <a:ea typeface="Nunito Heavy"/>
                <a:cs typeface="Nunito Heavy"/>
                <a:sym typeface="Nunito Heavy"/>
              </a:rPr>
              <a:t>AI CONCEPTS USED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07401" y="2908624"/>
            <a:ext cx="15058419" cy="442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• Artificial Intelligence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• Machine Learning 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• Supervised Learning: Classification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• Algorithms Used : Logistic Regression, Random Forest, Support Vector Machine(SVM)</a:t>
            </a:r>
          </a:p>
          <a:p>
            <a:pPr algn="l">
              <a:lnSpc>
                <a:spcPts val="5880"/>
              </a:lnSpc>
            </a:pPr>
            <a:endParaRPr lang="en-US" sz="4200">
              <a:solidFill>
                <a:srgbClr val="FFC9B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" name="Freeform 4"/>
          <p:cNvSpPr/>
          <p:nvPr/>
        </p:nvSpPr>
        <p:spPr>
          <a:xfrm rot="6590698" flipH="1" flipV="1">
            <a:off x="-7476913" y="-9003195"/>
            <a:ext cx="15744553" cy="13339931"/>
          </a:xfrm>
          <a:custGeom>
            <a:avLst/>
            <a:gdLst/>
            <a:ahLst/>
            <a:cxnLst/>
            <a:rect l="l" t="t" r="r" b="b"/>
            <a:pathLst>
              <a:path w="15744553" h="13339931">
                <a:moveTo>
                  <a:pt x="15744553" y="13339931"/>
                </a:moveTo>
                <a:lnTo>
                  <a:pt x="0" y="13339931"/>
                </a:lnTo>
                <a:lnTo>
                  <a:pt x="0" y="0"/>
                </a:lnTo>
                <a:lnTo>
                  <a:pt x="15744553" y="0"/>
                </a:lnTo>
                <a:lnTo>
                  <a:pt x="15744553" y="133399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6590698">
            <a:off x="10415723" y="5513470"/>
            <a:ext cx="15744553" cy="13339931"/>
          </a:xfrm>
          <a:custGeom>
            <a:avLst/>
            <a:gdLst/>
            <a:ahLst/>
            <a:cxnLst/>
            <a:rect l="l" t="t" r="r" b="b"/>
            <a:pathLst>
              <a:path w="15744553" h="13339931">
                <a:moveTo>
                  <a:pt x="0" y="0"/>
                </a:moveTo>
                <a:lnTo>
                  <a:pt x="15744554" y="0"/>
                </a:lnTo>
                <a:lnTo>
                  <a:pt x="15744554" y="13339931"/>
                </a:lnTo>
                <a:lnTo>
                  <a:pt x="0" y="1333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590698">
            <a:off x="10697654" y="6164122"/>
            <a:ext cx="15744553" cy="13339931"/>
          </a:xfrm>
          <a:custGeom>
            <a:avLst/>
            <a:gdLst/>
            <a:ahLst/>
            <a:cxnLst/>
            <a:rect l="l" t="t" r="r" b="b"/>
            <a:pathLst>
              <a:path w="15744553" h="13339931">
                <a:moveTo>
                  <a:pt x="0" y="0"/>
                </a:moveTo>
                <a:lnTo>
                  <a:pt x="15744554" y="0"/>
                </a:lnTo>
                <a:lnTo>
                  <a:pt x="15744554" y="13339931"/>
                </a:lnTo>
                <a:lnTo>
                  <a:pt x="0" y="13339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737149" flipH="1" flipV="1">
            <a:off x="-7687719" y="-9827318"/>
            <a:ext cx="15744553" cy="13339931"/>
          </a:xfrm>
          <a:custGeom>
            <a:avLst/>
            <a:gdLst/>
            <a:ahLst/>
            <a:cxnLst/>
            <a:rect l="l" t="t" r="r" b="b"/>
            <a:pathLst>
              <a:path w="15744553" h="13339931">
                <a:moveTo>
                  <a:pt x="15744553" y="13339931"/>
                </a:moveTo>
                <a:lnTo>
                  <a:pt x="0" y="13339931"/>
                </a:lnTo>
                <a:lnTo>
                  <a:pt x="0" y="0"/>
                </a:lnTo>
                <a:lnTo>
                  <a:pt x="15744553" y="0"/>
                </a:lnTo>
                <a:lnTo>
                  <a:pt x="15744553" y="133399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44072" y="3124586"/>
            <a:ext cx="9595702" cy="4919927"/>
            <a:chOff x="0" y="0"/>
            <a:chExt cx="2527263" cy="12957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7263" cy="1295783"/>
            </a:xfrm>
            <a:custGeom>
              <a:avLst/>
              <a:gdLst/>
              <a:ahLst/>
              <a:cxnLst/>
              <a:rect l="l" t="t" r="r" b="b"/>
              <a:pathLst>
                <a:path w="2527263" h="1295783">
                  <a:moveTo>
                    <a:pt x="9682" y="0"/>
                  </a:moveTo>
                  <a:lnTo>
                    <a:pt x="2517581" y="0"/>
                  </a:lnTo>
                  <a:cubicBezTo>
                    <a:pt x="2520149" y="0"/>
                    <a:pt x="2522612" y="1020"/>
                    <a:pt x="2524428" y="2836"/>
                  </a:cubicBezTo>
                  <a:cubicBezTo>
                    <a:pt x="2526243" y="4651"/>
                    <a:pt x="2527263" y="7114"/>
                    <a:pt x="2527263" y="9682"/>
                  </a:cubicBezTo>
                  <a:lnTo>
                    <a:pt x="2527263" y="1286102"/>
                  </a:lnTo>
                  <a:cubicBezTo>
                    <a:pt x="2527263" y="1291449"/>
                    <a:pt x="2522929" y="1295783"/>
                    <a:pt x="2517581" y="1295783"/>
                  </a:cubicBezTo>
                  <a:lnTo>
                    <a:pt x="9682" y="1295783"/>
                  </a:lnTo>
                  <a:cubicBezTo>
                    <a:pt x="7114" y="1295783"/>
                    <a:pt x="4651" y="1294763"/>
                    <a:pt x="2836" y="1292948"/>
                  </a:cubicBezTo>
                  <a:cubicBezTo>
                    <a:pt x="1020" y="1291132"/>
                    <a:pt x="0" y="1288669"/>
                    <a:pt x="0" y="1286102"/>
                  </a:cubicBezTo>
                  <a:lnTo>
                    <a:pt x="0" y="9682"/>
                  </a:lnTo>
                  <a:cubicBezTo>
                    <a:pt x="0" y="7114"/>
                    <a:pt x="1020" y="4651"/>
                    <a:pt x="2836" y="2836"/>
                  </a:cubicBezTo>
                  <a:cubicBezTo>
                    <a:pt x="4651" y="1020"/>
                    <a:pt x="7114" y="0"/>
                    <a:pt x="9682" y="0"/>
                  </a:cubicBezTo>
                  <a:close/>
                </a:path>
              </a:pathLst>
            </a:custGeom>
            <a:solidFill>
              <a:srgbClr val="A5DAF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527263" cy="1352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Previous studies confirm ML improves diabetes prediction accuracy.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Tree-based and linear models perform well on medical data.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Research supports early diagnosis using classification models.</a:t>
              </a:r>
            </a:p>
            <a:p>
              <a:pPr algn="ctr">
                <a:lnSpc>
                  <a:spcPts val="4760"/>
                </a:lnSpc>
              </a:pPr>
              <a:endPara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5664512">
            <a:off x="-6482015" y="-1201226"/>
            <a:ext cx="16333616" cy="13839027"/>
          </a:xfrm>
          <a:custGeom>
            <a:avLst/>
            <a:gdLst/>
            <a:ahLst/>
            <a:cxnLst/>
            <a:rect l="l" t="t" r="r" b="b"/>
            <a:pathLst>
              <a:path w="16333616" h="13839027">
                <a:moveTo>
                  <a:pt x="0" y="0"/>
                </a:moveTo>
                <a:lnTo>
                  <a:pt x="16333616" y="0"/>
                </a:lnTo>
                <a:lnTo>
                  <a:pt x="16333616" y="13839027"/>
                </a:lnTo>
                <a:lnTo>
                  <a:pt x="0" y="1383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3703994"/>
            <a:ext cx="6587407" cy="6848911"/>
          </a:xfrm>
          <a:custGeom>
            <a:avLst/>
            <a:gdLst/>
            <a:ahLst/>
            <a:cxnLst/>
            <a:rect l="l" t="t" r="r" b="b"/>
            <a:pathLst>
              <a:path w="6587407" h="6848911">
                <a:moveTo>
                  <a:pt x="0" y="0"/>
                </a:moveTo>
                <a:lnTo>
                  <a:pt x="6587407" y="0"/>
                </a:lnTo>
                <a:lnTo>
                  <a:pt x="6587407" y="6848912"/>
                </a:lnTo>
                <a:lnTo>
                  <a:pt x="0" y="6848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573360" y="1587747"/>
            <a:ext cx="968594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6000" b="1" spc="6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RESEARCH EVIDENCES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814" y="5276246"/>
            <a:ext cx="5449553" cy="4537992"/>
          </a:xfrm>
          <a:custGeom>
            <a:avLst/>
            <a:gdLst/>
            <a:ahLst/>
            <a:cxnLst/>
            <a:rect l="l" t="t" r="r" b="b"/>
            <a:pathLst>
              <a:path w="5449553" h="4537992">
                <a:moveTo>
                  <a:pt x="0" y="0"/>
                </a:moveTo>
                <a:lnTo>
                  <a:pt x="5449554" y="0"/>
                </a:lnTo>
                <a:lnTo>
                  <a:pt x="5449554" y="4537992"/>
                </a:lnTo>
                <a:lnTo>
                  <a:pt x="0" y="4537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24387" y="542314"/>
            <a:ext cx="2709879" cy="8715986"/>
          </a:xfrm>
          <a:custGeom>
            <a:avLst/>
            <a:gdLst/>
            <a:ahLst/>
            <a:cxnLst/>
            <a:rect l="l" t="t" r="r" b="b"/>
            <a:pathLst>
              <a:path w="2709879" h="8715986">
                <a:moveTo>
                  <a:pt x="0" y="0"/>
                </a:moveTo>
                <a:lnTo>
                  <a:pt x="2709879" y="0"/>
                </a:lnTo>
                <a:lnTo>
                  <a:pt x="2709879" y="8715986"/>
                </a:lnTo>
                <a:lnTo>
                  <a:pt x="0" y="8715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01030" y="726509"/>
            <a:ext cx="10523357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6000" b="1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REASON FOR SELECTION OF THE TOPIC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301030" y="3077718"/>
            <a:ext cx="10523357" cy="5580507"/>
            <a:chOff x="0" y="0"/>
            <a:chExt cx="2771584" cy="14697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71584" cy="1469763"/>
            </a:xfrm>
            <a:custGeom>
              <a:avLst/>
              <a:gdLst/>
              <a:ahLst/>
              <a:cxnLst/>
              <a:rect l="l" t="t" r="r" b="b"/>
              <a:pathLst>
                <a:path w="2771584" h="1469763">
                  <a:moveTo>
                    <a:pt x="8828" y="0"/>
                  </a:moveTo>
                  <a:lnTo>
                    <a:pt x="2762755" y="0"/>
                  </a:lnTo>
                  <a:cubicBezTo>
                    <a:pt x="2765097" y="0"/>
                    <a:pt x="2767342" y="930"/>
                    <a:pt x="2768998" y="2586"/>
                  </a:cubicBezTo>
                  <a:cubicBezTo>
                    <a:pt x="2770654" y="4241"/>
                    <a:pt x="2771584" y="6487"/>
                    <a:pt x="2771584" y="8828"/>
                  </a:cubicBezTo>
                  <a:lnTo>
                    <a:pt x="2771584" y="1460935"/>
                  </a:lnTo>
                  <a:cubicBezTo>
                    <a:pt x="2771584" y="1463276"/>
                    <a:pt x="2770654" y="1465522"/>
                    <a:pt x="2768998" y="1467177"/>
                  </a:cubicBezTo>
                  <a:cubicBezTo>
                    <a:pt x="2767342" y="1468833"/>
                    <a:pt x="2765097" y="1469763"/>
                    <a:pt x="2762755" y="1469763"/>
                  </a:cubicBezTo>
                  <a:lnTo>
                    <a:pt x="8828" y="1469763"/>
                  </a:lnTo>
                  <a:cubicBezTo>
                    <a:pt x="6487" y="1469763"/>
                    <a:pt x="4241" y="1468833"/>
                    <a:pt x="2586" y="1467177"/>
                  </a:cubicBezTo>
                  <a:cubicBezTo>
                    <a:pt x="930" y="1465522"/>
                    <a:pt x="0" y="1463276"/>
                    <a:pt x="0" y="1460935"/>
                  </a:cubicBezTo>
                  <a:lnTo>
                    <a:pt x="0" y="8828"/>
                  </a:lnTo>
                  <a:cubicBezTo>
                    <a:pt x="0" y="6487"/>
                    <a:pt x="930" y="4241"/>
                    <a:pt x="2586" y="2586"/>
                  </a:cubicBezTo>
                  <a:cubicBezTo>
                    <a:pt x="4241" y="930"/>
                    <a:pt x="6487" y="0"/>
                    <a:pt x="8828" y="0"/>
                  </a:cubicBezTo>
                  <a:close/>
                </a:path>
              </a:pathLst>
            </a:custGeom>
            <a:solidFill>
              <a:srgbClr val="A5DAF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71584" cy="1526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760"/>
                </a:lnSpc>
              </a:pPr>
              <a:r>
                <a:rPr lang="en-US" sz="3400" dirty="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Diabetes is a rapidly increasing global health issue.</a:t>
              </a:r>
            </a:p>
            <a:p>
              <a:pPr algn="l">
                <a:lnSpc>
                  <a:spcPts val="4760"/>
                </a:lnSpc>
              </a:pPr>
              <a:r>
                <a:rPr lang="en-US" sz="3400" dirty="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Many people are unaware of diabetes until later stages. </a:t>
              </a:r>
            </a:p>
            <a:p>
              <a:pPr algn="l">
                <a:lnSpc>
                  <a:spcPts val="4760"/>
                </a:lnSpc>
              </a:pPr>
              <a:r>
                <a:rPr lang="en-US" sz="3400" dirty="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Early prediction can save lives.</a:t>
              </a:r>
            </a:p>
            <a:p>
              <a:pPr algn="l">
                <a:lnSpc>
                  <a:spcPts val="4760"/>
                </a:lnSpc>
              </a:pPr>
              <a:r>
                <a:rPr lang="en-US" sz="3400" dirty="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Machine learning enables early and accurate prediction.</a:t>
              </a:r>
            </a:p>
            <a:p>
              <a:pPr algn="l">
                <a:lnSpc>
                  <a:spcPts val="4760"/>
                </a:lnSpc>
              </a:pPr>
              <a:r>
                <a:rPr lang="en-US" sz="3400" dirty="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Highly relevant real-world application. </a:t>
              </a:r>
            </a:p>
            <a:p>
              <a:pPr algn="l">
                <a:lnSpc>
                  <a:spcPts val="4760"/>
                </a:lnSpc>
              </a:pPr>
              <a:r>
                <a:rPr lang="en-US" sz="3400" dirty="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Dataset availability for the supervised learning. </a:t>
              </a:r>
            </a:p>
            <a:p>
              <a:pPr algn="l">
                <a:lnSpc>
                  <a:spcPts val="4760"/>
                </a:lnSpc>
              </a:pPr>
              <a:endParaRPr lang="en-US" sz="3400" dirty="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785627">
            <a:off x="8362569" y="-1463946"/>
            <a:ext cx="16333616" cy="13839027"/>
          </a:xfrm>
          <a:custGeom>
            <a:avLst/>
            <a:gdLst/>
            <a:ahLst/>
            <a:cxnLst/>
            <a:rect l="l" t="t" r="r" b="b"/>
            <a:pathLst>
              <a:path w="16333616" h="13839027">
                <a:moveTo>
                  <a:pt x="0" y="0"/>
                </a:moveTo>
                <a:lnTo>
                  <a:pt x="16333617" y="0"/>
                </a:lnTo>
                <a:lnTo>
                  <a:pt x="16333617" y="13839028"/>
                </a:lnTo>
                <a:lnTo>
                  <a:pt x="0" y="13839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9273" y="1701732"/>
            <a:ext cx="6150027" cy="8996050"/>
          </a:xfrm>
          <a:custGeom>
            <a:avLst/>
            <a:gdLst/>
            <a:ahLst/>
            <a:cxnLst/>
            <a:rect l="l" t="t" r="r" b="b"/>
            <a:pathLst>
              <a:path w="6150027" h="8996050">
                <a:moveTo>
                  <a:pt x="0" y="0"/>
                </a:moveTo>
                <a:lnTo>
                  <a:pt x="6150027" y="0"/>
                </a:lnTo>
                <a:lnTo>
                  <a:pt x="6150027" y="8996051"/>
                </a:lnTo>
                <a:lnTo>
                  <a:pt x="0" y="89960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229910"/>
            <a:ext cx="9694433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6000" b="1" spc="6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PROPOSED SOLUTION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37193" y="2965352"/>
            <a:ext cx="9685940" cy="4980432"/>
            <a:chOff x="0" y="0"/>
            <a:chExt cx="2551029" cy="1311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51029" cy="1311719"/>
            </a:xfrm>
            <a:custGeom>
              <a:avLst/>
              <a:gdLst/>
              <a:ahLst/>
              <a:cxnLst/>
              <a:rect l="l" t="t" r="r" b="b"/>
              <a:pathLst>
                <a:path w="2551029" h="1311719">
                  <a:moveTo>
                    <a:pt x="9592" y="0"/>
                  </a:moveTo>
                  <a:lnTo>
                    <a:pt x="2541438" y="0"/>
                  </a:lnTo>
                  <a:cubicBezTo>
                    <a:pt x="2546735" y="0"/>
                    <a:pt x="2551029" y="4294"/>
                    <a:pt x="2551029" y="9592"/>
                  </a:cubicBezTo>
                  <a:lnTo>
                    <a:pt x="2551029" y="1302127"/>
                  </a:lnTo>
                  <a:cubicBezTo>
                    <a:pt x="2551029" y="1307424"/>
                    <a:pt x="2546735" y="1311719"/>
                    <a:pt x="2541438" y="1311719"/>
                  </a:cubicBezTo>
                  <a:lnTo>
                    <a:pt x="9592" y="1311719"/>
                  </a:lnTo>
                  <a:cubicBezTo>
                    <a:pt x="4294" y="1311719"/>
                    <a:pt x="0" y="1307424"/>
                    <a:pt x="0" y="1302127"/>
                  </a:cubicBezTo>
                  <a:lnTo>
                    <a:pt x="0" y="9592"/>
                  </a:lnTo>
                  <a:cubicBezTo>
                    <a:pt x="0" y="4294"/>
                    <a:pt x="4294" y="0"/>
                    <a:pt x="9592" y="0"/>
                  </a:cubicBezTo>
                  <a:close/>
                </a:path>
              </a:pathLst>
            </a:custGeom>
            <a:solidFill>
              <a:srgbClr val="A5DAF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551029" cy="1368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Use supervised ML models for diabetes classification.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Preprocess medical dataset and handle missing values.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Train and evaluate multiple algorithms.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Select best-performing model based on accuracy.</a:t>
              </a:r>
            </a:p>
            <a:p>
              <a:pPr algn="l">
                <a:lnSpc>
                  <a:spcPts val="4760"/>
                </a:lnSpc>
              </a:pPr>
              <a:endPara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32171" flipV="1">
            <a:off x="11059778" y="-7652213"/>
            <a:ext cx="11159046" cy="12081644"/>
          </a:xfrm>
          <a:custGeom>
            <a:avLst/>
            <a:gdLst/>
            <a:ahLst/>
            <a:cxnLst/>
            <a:rect l="l" t="t" r="r" b="b"/>
            <a:pathLst>
              <a:path w="11159046" h="12081644">
                <a:moveTo>
                  <a:pt x="0" y="12081645"/>
                </a:moveTo>
                <a:lnTo>
                  <a:pt x="11159046" y="12081645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477909">
            <a:off x="-5425642" y="4779307"/>
            <a:ext cx="12537058" cy="13573586"/>
          </a:xfrm>
          <a:custGeom>
            <a:avLst/>
            <a:gdLst/>
            <a:ahLst/>
            <a:cxnLst/>
            <a:rect l="l" t="t" r="r" b="b"/>
            <a:pathLst>
              <a:path w="12537058" h="13573586">
                <a:moveTo>
                  <a:pt x="0" y="0"/>
                </a:moveTo>
                <a:lnTo>
                  <a:pt x="12537058" y="0"/>
                </a:lnTo>
                <a:lnTo>
                  <a:pt x="12537058" y="13573587"/>
                </a:lnTo>
                <a:lnTo>
                  <a:pt x="0" y="13573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7039" y="1261682"/>
            <a:ext cx="12739292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6000" b="1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HOW THE APPLICATION WORKS </a:t>
            </a:r>
          </a:p>
        </p:txBody>
      </p:sp>
      <p:sp>
        <p:nvSpPr>
          <p:cNvPr id="5" name="Freeform 5"/>
          <p:cNvSpPr/>
          <p:nvPr/>
        </p:nvSpPr>
        <p:spPr>
          <a:xfrm rot="69782">
            <a:off x="1504858" y="6780844"/>
            <a:ext cx="1326215" cy="2464251"/>
          </a:xfrm>
          <a:custGeom>
            <a:avLst/>
            <a:gdLst/>
            <a:ahLst/>
            <a:cxnLst/>
            <a:rect l="l" t="t" r="r" b="b"/>
            <a:pathLst>
              <a:path w="1326215" h="2464251">
                <a:moveTo>
                  <a:pt x="0" y="0"/>
                </a:moveTo>
                <a:lnTo>
                  <a:pt x="1326215" y="0"/>
                </a:lnTo>
                <a:lnTo>
                  <a:pt x="1326215" y="2464250"/>
                </a:lnTo>
                <a:lnTo>
                  <a:pt x="0" y="2464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461120">
            <a:off x="3171194" y="7665000"/>
            <a:ext cx="1470601" cy="2191952"/>
          </a:xfrm>
          <a:custGeom>
            <a:avLst/>
            <a:gdLst/>
            <a:ahLst/>
            <a:cxnLst/>
            <a:rect l="l" t="t" r="r" b="b"/>
            <a:pathLst>
              <a:path w="1470601" h="2191952">
                <a:moveTo>
                  <a:pt x="0" y="0"/>
                </a:moveTo>
                <a:lnTo>
                  <a:pt x="1470601" y="0"/>
                </a:lnTo>
                <a:lnTo>
                  <a:pt x="1470601" y="2191953"/>
                </a:lnTo>
                <a:lnTo>
                  <a:pt x="0" y="2191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976321">
            <a:off x="14252174" y="626830"/>
            <a:ext cx="2436144" cy="2241253"/>
          </a:xfrm>
          <a:custGeom>
            <a:avLst/>
            <a:gdLst/>
            <a:ahLst/>
            <a:cxnLst/>
            <a:rect l="l" t="t" r="r" b="b"/>
            <a:pathLst>
              <a:path w="2436144" h="2241253">
                <a:moveTo>
                  <a:pt x="0" y="0"/>
                </a:moveTo>
                <a:lnTo>
                  <a:pt x="2436144" y="0"/>
                </a:lnTo>
                <a:lnTo>
                  <a:pt x="2436144" y="2241253"/>
                </a:lnTo>
                <a:lnTo>
                  <a:pt x="0" y="2241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25819" y="3164495"/>
            <a:ext cx="1187562" cy="2676882"/>
          </a:xfrm>
          <a:custGeom>
            <a:avLst/>
            <a:gdLst/>
            <a:ahLst/>
            <a:cxnLst/>
            <a:rect l="l" t="t" r="r" b="b"/>
            <a:pathLst>
              <a:path w="1187562" h="2676882">
                <a:moveTo>
                  <a:pt x="0" y="0"/>
                </a:moveTo>
                <a:lnTo>
                  <a:pt x="1187562" y="0"/>
                </a:lnTo>
                <a:lnTo>
                  <a:pt x="1187562" y="2676882"/>
                </a:lnTo>
                <a:lnTo>
                  <a:pt x="0" y="26768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476618">
            <a:off x="15856614" y="2859265"/>
            <a:ext cx="1565374" cy="2459873"/>
          </a:xfrm>
          <a:custGeom>
            <a:avLst/>
            <a:gdLst/>
            <a:ahLst/>
            <a:cxnLst/>
            <a:rect l="l" t="t" r="r" b="b"/>
            <a:pathLst>
              <a:path w="1565374" h="2459873">
                <a:moveTo>
                  <a:pt x="0" y="0"/>
                </a:moveTo>
                <a:lnTo>
                  <a:pt x="1565374" y="0"/>
                </a:lnTo>
                <a:lnTo>
                  <a:pt x="1565374" y="2459873"/>
                </a:lnTo>
                <a:lnTo>
                  <a:pt x="0" y="24598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6337500">
            <a:off x="1144039" y="5095351"/>
            <a:ext cx="1470601" cy="2191952"/>
          </a:xfrm>
          <a:custGeom>
            <a:avLst/>
            <a:gdLst/>
            <a:ahLst/>
            <a:cxnLst/>
            <a:rect l="l" t="t" r="r" b="b"/>
            <a:pathLst>
              <a:path w="1470601" h="2191952">
                <a:moveTo>
                  <a:pt x="0" y="0"/>
                </a:moveTo>
                <a:lnTo>
                  <a:pt x="1470601" y="0"/>
                </a:lnTo>
                <a:lnTo>
                  <a:pt x="1470601" y="2191952"/>
                </a:lnTo>
                <a:lnTo>
                  <a:pt x="0" y="21919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716945" y="3080509"/>
            <a:ext cx="10430397" cy="4671775"/>
            <a:chOff x="0" y="0"/>
            <a:chExt cx="2747101" cy="12304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47101" cy="1230426"/>
            </a:xfrm>
            <a:custGeom>
              <a:avLst/>
              <a:gdLst/>
              <a:ahLst/>
              <a:cxnLst/>
              <a:rect l="l" t="t" r="r" b="b"/>
              <a:pathLst>
                <a:path w="2747101" h="1230426">
                  <a:moveTo>
                    <a:pt x="8907" y="0"/>
                  </a:moveTo>
                  <a:lnTo>
                    <a:pt x="2738194" y="0"/>
                  </a:lnTo>
                  <a:cubicBezTo>
                    <a:pt x="2740556" y="0"/>
                    <a:pt x="2742821" y="938"/>
                    <a:pt x="2744492" y="2609"/>
                  </a:cubicBezTo>
                  <a:cubicBezTo>
                    <a:pt x="2746162" y="4279"/>
                    <a:pt x="2747101" y="6545"/>
                    <a:pt x="2747101" y="8907"/>
                  </a:cubicBezTo>
                  <a:lnTo>
                    <a:pt x="2747101" y="1221519"/>
                  </a:lnTo>
                  <a:cubicBezTo>
                    <a:pt x="2747101" y="1226439"/>
                    <a:pt x="2743113" y="1230426"/>
                    <a:pt x="2738194" y="1230426"/>
                  </a:cubicBezTo>
                  <a:lnTo>
                    <a:pt x="8907" y="1230426"/>
                  </a:lnTo>
                  <a:cubicBezTo>
                    <a:pt x="3988" y="1230426"/>
                    <a:pt x="0" y="1226439"/>
                    <a:pt x="0" y="1221519"/>
                  </a:cubicBezTo>
                  <a:lnTo>
                    <a:pt x="0" y="8907"/>
                  </a:lnTo>
                  <a:cubicBezTo>
                    <a:pt x="0" y="3988"/>
                    <a:pt x="3988" y="0"/>
                    <a:pt x="8907" y="0"/>
                  </a:cubicBezTo>
                  <a:close/>
                </a:path>
              </a:pathLst>
            </a:custGeom>
            <a:solidFill>
              <a:srgbClr val="A5DAF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747101" cy="1287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Load diabetes dataset.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Preprocess data.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Split dataset into training and testing sets.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Train ML models.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Predict diabetes status.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Evaluate performance using accuracy and metrics.</a:t>
              </a:r>
            </a:p>
            <a:p>
              <a:pPr algn="l">
                <a:lnSpc>
                  <a:spcPts val="4760"/>
                </a:lnSpc>
              </a:pPr>
              <a:endPara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3192" y="3009900"/>
            <a:ext cx="3098617" cy="6626000"/>
          </a:xfrm>
          <a:custGeom>
            <a:avLst/>
            <a:gdLst/>
            <a:ahLst/>
            <a:cxnLst/>
            <a:rect l="l" t="t" r="r" b="b"/>
            <a:pathLst>
              <a:path w="3065362" h="6626000">
                <a:moveTo>
                  <a:pt x="0" y="0"/>
                </a:moveTo>
                <a:lnTo>
                  <a:pt x="3065361" y="0"/>
                </a:lnTo>
                <a:lnTo>
                  <a:pt x="3065361" y="6626000"/>
                </a:lnTo>
                <a:lnTo>
                  <a:pt x="0" y="662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10969" y="3009900"/>
            <a:ext cx="3814580" cy="6626000"/>
          </a:xfrm>
          <a:custGeom>
            <a:avLst/>
            <a:gdLst/>
            <a:ahLst/>
            <a:cxnLst/>
            <a:rect l="l" t="t" r="r" b="b"/>
            <a:pathLst>
              <a:path w="3814580" h="6626000">
                <a:moveTo>
                  <a:pt x="0" y="0"/>
                </a:moveTo>
                <a:lnTo>
                  <a:pt x="3814580" y="0"/>
                </a:lnTo>
                <a:lnTo>
                  <a:pt x="3814580" y="6626000"/>
                </a:lnTo>
                <a:lnTo>
                  <a:pt x="0" y="662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35" r="-159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68084" y="3009900"/>
            <a:ext cx="3921139" cy="6626000"/>
          </a:xfrm>
          <a:custGeom>
            <a:avLst/>
            <a:gdLst/>
            <a:ahLst/>
            <a:cxnLst/>
            <a:rect l="l" t="t" r="r" b="b"/>
            <a:pathLst>
              <a:path w="3921139" h="6626000">
                <a:moveTo>
                  <a:pt x="0" y="0"/>
                </a:moveTo>
                <a:lnTo>
                  <a:pt x="3921140" y="0"/>
                </a:lnTo>
                <a:lnTo>
                  <a:pt x="3921140" y="6626000"/>
                </a:lnTo>
                <a:lnTo>
                  <a:pt x="0" y="662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7" r="-379" b="-17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79671" y="3009900"/>
            <a:ext cx="4229640" cy="6626000"/>
          </a:xfrm>
          <a:custGeom>
            <a:avLst/>
            <a:gdLst/>
            <a:ahLst/>
            <a:cxnLst/>
            <a:rect l="l" t="t" r="r" b="b"/>
            <a:pathLst>
              <a:path w="4229640" h="6626000">
                <a:moveTo>
                  <a:pt x="0" y="0"/>
                </a:moveTo>
                <a:lnTo>
                  <a:pt x="4229641" y="0"/>
                </a:lnTo>
                <a:lnTo>
                  <a:pt x="4229641" y="6626000"/>
                </a:lnTo>
                <a:lnTo>
                  <a:pt x="0" y="6626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01030" y="324076"/>
            <a:ext cx="9685940" cy="107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00"/>
              </a:lnSpc>
            </a:pPr>
            <a:r>
              <a:rPr lang="en-US" sz="6800" b="1" spc="68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PSEUDOCODE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1440" y="2231222"/>
            <a:ext cx="3098617" cy="34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00" b="1" spc="23" dirty="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OVERALL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10969" y="2231222"/>
            <a:ext cx="3662600" cy="34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00" b="1" spc="23" dirty="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LOGISTIC REGRESSION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37496" y="2231222"/>
            <a:ext cx="4582316" cy="34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00" b="1" spc="23" dirty="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SUPPORT VECTOR MACHINE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79671" y="2231222"/>
            <a:ext cx="3662600" cy="34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00" b="1" spc="23" dirty="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RANDOM FOREST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301030" y="324076"/>
            <a:ext cx="9685940" cy="107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00"/>
              </a:lnSpc>
            </a:pPr>
            <a:r>
              <a:rPr lang="en-US" sz="6800" b="1" spc="68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FLOWCHART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5000" y="2019300"/>
            <a:ext cx="3662600" cy="34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00" b="1" spc="23" dirty="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LOGISTIC REGRESSION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82477" y="2019300"/>
            <a:ext cx="4582316" cy="34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00" b="1" spc="23" dirty="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SUPPORT VECTOR MACHINE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58800" y="2019300"/>
            <a:ext cx="3662600" cy="34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00" b="1" spc="23" dirty="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RANDOM FOREST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0FAE1C-CD5B-40E7-B616-4DA10072E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579" y="2476500"/>
            <a:ext cx="3287441" cy="76230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9BBE53-8884-4D3F-A345-8E7B99D1F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3935" y="2476500"/>
            <a:ext cx="2592330" cy="76230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F5130D-FC03-4829-83A7-36A55573E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476500"/>
            <a:ext cx="2800528" cy="76230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32171" flipV="1">
            <a:off x="12306198" y="-7204419"/>
            <a:ext cx="11159046" cy="12081644"/>
          </a:xfrm>
          <a:custGeom>
            <a:avLst/>
            <a:gdLst/>
            <a:ahLst/>
            <a:cxnLst/>
            <a:rect l="l" t="t" r="r" b="b"/>
            <a:pathLst>
              <a:path w="11159046" h="12081644">
                <a:moveTo>
                  <a:pt x="0" y="12081644"/>
                </a:moveTo>
                <a:lnTo>
                  <a:pt x="11159046" y="12081644"/>
                </a:lnTo>
                <a:lnTo>
                  <a:pt x="11159046" y="0"/>
                </a:lnTo>
                <a:lnTo>
                  <a:pt x="0" y="0"/>
                </a:lnTo>
                <a:lnTo>
                  <a:pt x="0" y="120816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477909">
            <a:off x="-6015755" y="4953293"/>
            <a:ext cx="12537058" cy="13573586"/>
          </a:xfrm>
          <a:custGeom>
            <a:avLst/>
            <a:gdLst/>
            <a:ahLst/>
            <a:cxnLst/>
            <a:rect l="l" t="t" r="r" b="b"/>
            <a:pathLst>
              <a:path w="12537058" h="13573586">
                <a:moveTo>
                  <a:pt x="0" y="0"/>
                </a:moveTo>
                <a:lnTo>
                  <a:pt x="12537058" y="0"/>
                </a:lnTo>
                <a:lnTo>
                  <a:pt x="12537058" y="13573586"/>
                </a:lnTo>
                <a:lnTo>
                  <a:pt x="0" y="1357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5182" y="5143500"/>
            <a:ext cx="4974400" cy="5560813"/>
          </a:xfrm>
          <a:custGeom>
            <a:avLst/>
            <a:gdLst/>
            <a:ahLst/>
            <a:cxnLst/>
            <a:rect l="l" t="t" r="r" b="b"/>
            <a:pathLst>
              <a:path w="4974400" h="5560813">
                <a:moveTo>
                  <a:pt x="0" y="0"/>
                </a:moveTo>
                <a:lnTo>
                  <a:pt x="4974400" y="0"/>
                </a:lnTo>
                <a:lnTo>
                  <a:pt x="4974400" y="5560813"/>
                </a:lnTo>
                <a:lnTo>
                  <a:pt x="0" y="55608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067172" y="4787157"/>
            <a:ext cx="4731283" cy="8942287"/>
          </a:xfrm>
          <a:custGeom>
            <a:avLst/>
            <a:gdLst/>
            <a:ahLst/>
            <a:cxnLst/>
            <a:rect l="l" t="t" r="r" b="b"/>
            <a:pathLst>
              <a:path w="4731283" h="8942287">
                <a:moveTo>
                  <a:pt x="0" y="0"/>
                </a:moveTo>
                <a:lnTo>
                  <a:pt x="4731283" y="0"/>
                </a:lnTo>
                <a:lnTo>
                  <a:pt x="4731283" y="8942286"/>
                </a:lnTo>
                <a:lnTo>
                  <a:pt x="0" y="89422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55188" y="2903482"/>
            <a:ext cx="11471500" cy="714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500" b="1" spc="22" dirty="0">
                <a:solidFill>
                  <a:srgbClr val="2D799C"/>
                </a:solidFill>
                <a:latin typeface="Nunito Bold"/>
                <a:ea typeface="Nunito Bold"/>
                <a:cs typeface="Nunito Bold"/>
                <a:sym typeface="Nunito Bold"/>
              </a:rPr>
              <a:t>Real-world Problems Solved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76726" y="4400965"/>
            <a:ext cx="9349961" cy="297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• Early detection of diabetes.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• Supports healthcare decision-making.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• Reduces late-stage diabetes complications.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rPr>
              <a:t>• Assists doctors and health professionals.</a:t>
            </a:r>
          </a:p>
          <a:p>
            <a:pPr algn="l">
              <a:lnSpc>
                <a:spcPts val="4760"/>
              </a:lnSpc>
            </a:pPr>
            <a:endParaRPr lang="en-US" sz="3400">
              <a:solidFill>
                <a:srgbClr val="5C322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D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785627">
            <a:off x="8446768" y="-1488454"/>
            <a:ext cx="15953106" cy="13516632"/>
          </a:xfrm>
          <a:custGeom>
            <a:avLst/>
            <a:gdLst/>
            <a:ahLst/>
            <a:cxnLst/>
            <a:rect l="l" t="t" r="r" b="b"/>
            <a:pathLst>
              <a:path w="15953106" h="13516632">
                <a:moveTo>
                  <a:pt x="0" y="0"/>
                </a:moveTo>
                <a:lnTo>
                  <a:pt x="15953107" y="0"/>
                </a:lnTo>
                <a:lnTo>
                  <a:pt x="15953107" y="13516631"/>
                </a:lnTo>
                <a:lnTo>
                  <a:pt x="0" y="1351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93866" y="2369855"/>
            <a:ext cx="5731062" cy="8565446"/>
          </a:xfrm>
          <a:custGeom>
            <a:avLst/>
            <a:gdLst/>
            <a:ahLst/>
            <a:cxnLst/>
            <a:rect l="l" t="t" r="r" b="b"/>
            <a:pathLst>
              <a:path w="5731062" h="8565446">
                <a:moveTo>
                  <a:pt x="0" y="0"/>
                </a:moveTo>
                <a:lnTo>
                  <a:pt x="5731062" y="0"/>
                </a:lnTo>
                <a:lnTo>
                  <a:pt x="5731062" y="8565445"/>
                </a:lnTo>
                <a:lnTo>
                  <a:pt x="0" y="8565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542925"/>
            <a:ext cx="8343900" cy="942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6000" b="1" spc="60" dirty="0">
                <a:solidFill>
                  <a:srgbClr val="2D799C"/>
                </a:solidFill>
                <a:latin typeface="Nunito Heavy"/>
                <a:ea typeface="Nunito Heavy"/>
                <a:cs typeface="Nunito Heavy"/>
                <a:sym typeface="Nunito Heavy"/>
              </a:rPr>
              <a:t>ACHIEVED RESULTS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7988" y="2369855"/>
            <a:ext cx="9685940" cy="4980432"/>
            <a:chOff x="0" y="0"/>
            <a:chExt cx="2551029" cy="1311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51029" cy="1311719"/>
            </a:xfrm>
            <a:custGeom>
              <a:avLst/>
              <a:gdLst/>
              <a:ahLst/>
              <a:cxnLst/>
              <a:rect l="l" t="t" r="r" b="b"/>
              <a:pathLst>
                <a:path w="2551029" h="1311719">
                  <a:moveTo>
                    <a:pt x="9592" y="0"/>
                  </a:moveTo>
                  <a:lnTo>
                    <a:pt x="2541438" y="0"/>
                  </a:lnTo>
                  <a:cubicBezTo>
                    <a:pt x="2546735" y="0"/>
                    <a:pt x="2551029" y="4294"/>
                    <a:pt x="2551029" y="9592"/>
                  </a:cubicBezTo>
                  <a:lnTo>
                    <a:pt x="2551029" y="1302127"/>
                  </a:lnTo>
                  <a:cubicBezTo>
                    <a:pt x="2551029" y="1307424"/>
                    <a:pt x="2546735" y="1311719"/>
                    <a:pt x="2541438" y="1311719"/>
                  </a:cubicBezTo>
                  <a:lnTo>
                    <a:pt x="9592" y="1311719"/>
                  </a:lnTo>
                  <a:cubicBezTo>
                    <a:pt x="4294" y="1311719"/>
                    <a:pt x="0" y="1307424"/>
                    <a:pt x="0" y="1302127"/>
                  </a:cubicBezTo>
                  <a:lnTo>
                    <a:pt x="0" y="9592"/>
                  </a:lnTo>
                  <a:cubicBezTo>
                    <a:pt x="0" y="4294"/>
                    <a:pt x="4294" y="0"/>
                    <a:pt x="9592" y="0"/>
                  </a:cubicBezTo>
                  <a:close/>
                </a:path>
              </a:pathLst>
            </a:custGeom>
            <a:solidFill>
              <a:srgbClr val="A5DAF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551029" cy="1368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All three models were successfully trained and evaluated.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System accurately predicts diabetic and non-diabetic patients.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Random Forest achieved the highest accuracy.</a:t>
              </a:r>
            </a:p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5C3224"/>
                  </a:solidFill>
                  <a:latin typeface="Nunito"/>
                  <a:ea typeface="Nunito"/>
                  <a:cs typeface="Nunito"/>
                  <a:sym typeface="Nunito"/>
                </a:rPr>
                <a:t>• Overfitting was resolved using regularization.</a:t>
              </a:r>
            </a:p>
            <a:p>
              <a:pPr algn="l">
                <a:lnSpc>
                  <a:spcPts val="4760"/>
                </a:lnSpc>
              </a:pPr>
              <a:endPara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algn="l">
                <a:lnSpc>
                  <a:spcPts val="4760"/>
                </a:lnSpc>
              </a:pPr>
              <a:endParaRPr lang="en-US" sz="3400">
                <a:solidFill>
                  <a:srgbClr val="5C3224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79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06806" y="1534539"/>
            <a:ext cx="7474389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50"/>
              </a:lnSpc>
            </a:pPr>
            <a:r>
              <a:rPr lang="en-US" sz="7000" b="1" spc="70">
                <a:solidFill>
                  <a:srgbClr val="FFC9B3"/>
                </a:solidFill>
                <a:latin typeface="Nunito Heavy"/>
                <a:ea typeface="Nunito Heavy"/>
                <a:cs typeface="Nunito Heavy"/>
                <a:sym typeface="Nunito Heavy"/>
              </a:rPr>
              <a:t>CONCLUSION</a:t>
            </a:r>
          </a:p>
        </p:txBody>
      </p:sp>
      <p:sp>
        <p:nvSpPr>
          <p:cNvPr id="3" name="Freeform 3"/>
          <p:cNvSpPr/>
          <p:nvPr/>
        </p:nvSpPr>
        <p:spPr>
          <a:xfrm rot="6737149" flipH="1" flipV="1">
            <a:off x="-7476913" y="-9145504"/>
            <a:ext cx="15744553" cy="13339931"/>
          </a:xfrm>
          <a:custGeom>
            <a:avLst/>
            <a:gdLst/>
            <a:ahLst/>
            <a:cxnLst/>
            <a:rect l="l" t="t" r="r" b="b"/>
            <a:pathLst>
              <a:path w="15744553" h="13339931">
                <a:moveTo>
                  <a:pt x="15744553" y="13339931"/>
                </a:moveTo>
                <a:lnTo>
                  <a:pt x="0" y="13339931"/>
                </a:lnTo>
                <a:lnTo>
                  <a:pt x="0" y="0"/>
                </a:lnTo>
                <a:lnTo>
                  <a:pt x="15744553" y="0"/>
                </a:lnTo>
                <a:lnTo>
                  <a:pt x="15744553" y="133399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590698">
            <a:off x="10415723" y="5944493"/>
            <a:ext cx="15744553" cy="13339931"/>
          </a:xfrm>
          <a:custGeom>
            <a:avLst/>
            <a:gdLst/>
            <a:ahLst/>
            <a:cxnLst/>
            <a:rect l="l" t="t" r="r" b="b"/>
            <a:pathLst>
              <a:path w="15744553" h="13339931">
                <a:moveTo>
                  <a:pt x="0" y="0"/>
                </a:moveTo>
                <a:lnTo>
                  <a:pt x="15744554" y="0"/>
                </a:lnTo>
                <a:lnTo>
                  <a:pt x="15744554" y="13339931"/>
                </a:lnTo>
                <a:lnTo>
                  <a:pt x="0" y="1333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6590698">
            <a:off x="10868136" y="6279139"/>
            <a:ext cx="15744553" cy="13339931"/>
          </a:xfrm>
          <a:custGeom>
            <a:avLst/>
            <a:gdLst/>
            <a:ahLst/>
            <a:cxnLst/>
            <a:rect l="l" t="t" r="r" b="b"/>
            <a:pathLst>
              <a:path w="15744553" h="13339931">
                <a:moveTo>
                  <a:pt x="0" y="0"/>
                </a:moveTo>
                <a:lnTo>
                  <a:pt x="15744553" y="0"/>
                </a:lnTo>
                <a:lnTo>
                  <a:pt x="15744553" y="13339930"/>
                </a:lnTo>
                <a:lnTo>
                  <a:pt x="0" y="1333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737149" flipH="1" flipV="1">
            <a:off x="-7687719" y="-9827318"/>
            <a:ext cx="15744553" cy="13339931"/>
          </a:xfrm>
          <a:custGeom>
            <a:avLst/>
            <a:gdLst/>
            <a:ahLst/>
            <a:cxnLst/>
            <a:rect l="l" t="t" r="r" b="b"/>
            <a:pathLst>
              <a:path w="15744553" h="13339931">
                <a:moveTo>
                  <a:pt x="15744553" y="13339931"/>
                </a:moveTo>
                <a:lnTo>
                  <a:pt x="0" y="13339931"/>
                </a:lnTo>
                <a:lnTo>
                  <a:pt x="0" y="0"/>
                </a:lnTo>
                <a:lnTo>
                  <a:pt x="15744553" y="0"/>
                </a:lnTo>
                <a:lnTo>
                  <a:pt x="15744553" y="133399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23278" y="3203830"/>
            <a:ext cx="15058419" cy="517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• ML-based diabetes prediction system was successfully implemented.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• Random Forest performed best among all models.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• System demonstrates strong healthcare applicability.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C9B3"/>
                </a:solidFill>
                <a:latin typeface="Nunito"/>
                <a:ea typeface="Nunito"/>
                <a:cs typeface="Nunito"/>
                <a:sym typeface="Nunito"/>
              </a:rPr>
              <a:t>• Future work can include larger datasets and deep learning.</a:t>
            </a:r>
          </a:p>
          <a:p>
            <a:pPr algn="l">
              <a:lnSpc>
                <a:spcPts val="5880"/>
              </a:lnSpc>
            </a:pPr>
            <a:endParaRPr lang="en-US" sz="4200">
              <a:solidFill>
                <a:srgbClr val="FFC9B3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5880"/>
              </a:lnSpc>
            </a:pPr>
            <a:endParaRPr lang="en-US" sz="4200">
              <a:solidFill>
                <a:srgbClr val="FFC9B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403</Words>
  <Application>Microsoft Office PowerPoint</Application>
  <PresentationFormat>Custom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Nunito Heavy</vt:lpstr>
      <vt:lpstr>Nunito Bold</vt:lpstr>
      <vt:lpstr>Arial</vt:lpstr>
      <vt:lpstr>Nunito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Creative Diabetes Presentation </dc:title>
  <cp:lastModifiedBy>Unison Tuladhar</cp:lastModifiedBy>
  <cp:revision>6</cp:revision>
  <dcterms:created xsi:type="dcterms:W3CDTF">2006-08-16T00:00:00Z</dcterms:created>
  <dcterms:modified xsi:type="dcterms:W3CDTF">2026-01-21T03:50:23Z</dcterms:modified>
  <dc:identifier>DAG--dS5fBs</dc:identifier>
</cp:coreProperties>
</file>